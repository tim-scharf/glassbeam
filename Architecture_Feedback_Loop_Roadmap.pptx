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A4A"/>
                </a:solidFill>
              </a:defRPr>
            </a:pPr>
            <a:r>
              <a:t>Study Description Classifier — Structure, Feedback Loop &amp; Embeddings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Rule-based, no-embeddings pipeline today; embeddings are the planned next step specifically for region/focus.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417320"/>
            <a:ext cx="3703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B2A4A"/>
                </a:solidFill>
              </a:defRPr>
            </a:pPr>
            <a:r>
              <a:t>1 · Current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801368"/>
            <a:ext cx="3703320" cy="279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947672"/>
            <a:ext cx="3703320" cy="454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222222"/>
                </a:solidFill>
              </a:defRPr>
            </a:pPr>
            <a:r>
              <a:t>• Two inputs: modality + study_desc_raw (the raw study description text).</a:t>
            </a:r>
          </a:p>
          <a:p>
            <a:pPr>
              <a:spcAft>
                <a:spcPts val="600"/>
              </a:spcAft>
              <a:defRPr sz="1050">
                <a:solidFill>
                  <a:srgbClr val="222222"/>
                </a:solidFill>
              </a:defRPr>
            </a:pPr>
            <a:r>
              <a:t>• modality_model_architecture.json is the routing table: which of the 4 attributes apply per modality (e.g. NM skips laterality; MG only gets laterality + technique).</a:t>
            </a:r>
          </a:p>
          <a:p>
            <a:pPr>
              <a:spcAft>
                <a:spcPts val="600"/>
              </a:spcAft>
              <a:defRPr sz="1050">
                <a:solidFill>
                  <a:srgbClr val="222222"/>
                </a:solidFill>
              </a:defRPr>
            </a:pPr>
            <a:r>
              <a:t>• 4 independent rule-based (regex/keyword, no embeddings) models, each its own extractor script:</a:t>
            </a:r>
          </a:p>
          <a:p>
            <a:pPr>
              <a:spcAft>
                <a:spcPts val="600"/>
              </a:spcAft>
              <a:defRPr sz="1050">
                <a:solidFill>
                  <a:srgbClr val="222222"/>
                </a:solidFill>
              </a:defRPr>
            </a:pPr>
            <a:r>
              <a:t>•    – Region/Focus — multi-label, 9 fixed regions, growing per-region foci.</a:t>
            </a:r>
          </a:p>
          <a:p>
            <a:pPr>
              <a:spcAft>
                <a:spcPts val="600"/>
              </a:spcAft>
              <a:defRPr sz="1050">
                <a:solidFill>
                  <a:srgbClr val="222222"/>
                </a:solidFill>
              </a:defRPr>
            </a:pPr>
            <a:r>
              <a:t>•    – Laterality — Right / Left / Bilateral / Unspecified.</a:t>
            </a:r>
          </a:p>
          <a:p>
            <a:pPr>
              <a:spcAft>
                <a:spcPts val="600"/>
              </a:spcAft>
              <a:defRPr sz="1050">
                <a:solidFill>
                  <a:srgbClr val="222222"/>
                </a:solidFill>
              </a:defRPr>
            </a:pPr>
            <a:r>
              <a:t>•    – Contrast timing — With / Without / With and without / Unspecified.</a:t>
            </a:r>
          </a:p>
          <a:p>
            <a:pPr>
              <a:spcAft>
                <a:spcPts val="600"/>
              </a:spcAft>
              <a:defRPr sz="1050">
                <a:solidFill>
                  <a:srgbClr val="222222"/>
                </a:solidFill>
              </a:defRPr>
            </a:pPr>
            <a:r>
              <a:t>•    – Technique/study type — NM + MG only (~12 cats each) — the only 2 modalities with a clean specialty-technique partition.</a:t>
            </a:r>
          </a:p>
          <a:p>
            <a:pPr>
              <a:spcAft>
                <a:spcPts val="600"/>
              </a:spcAft>
              <a:defRPr sz="1050">
                <a:solidFill>
                  <a:srgbClr val="222222"/>
                </a:solidFill>
              </a:defRPr>
            </a:pPr>
            <a:r>
              <a:t>• classify.py is the single entry point: reads the routing table once, calls only the applicable models, returns one combined record.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417320"/>
            <a:ext cx="3703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7C86"/>
                </a:solidFill>
              </a:defRPr>
            </a:pPr>
            <a:r>
              <a:t>2 · Feedback loop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801368"/>
            <a:ext cx="3703320" cy="2794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947672"/>
            <a:ext cx="3703320" cy="454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222222"/>
                </a:solidFill>
              </a:defRPr>
            </a:pPr>
            <a:r>
              <a:t>• Every keyword rule is derived from actually reading the real corpus (6,139 unique descriptions) — never guessed or templated.</a:t>
            </a:r>
          </a:p>
          <a:p>
            <a:pPr>
              <a:spcAft>
                <a:spcPts val="600"/>
              </a:spcAft>
              <a:defRPr sz="1050">
                <a:solidFill>
                  <a:srgbClr val="222222"/>
                </a:solidFill>
              </a:defRPr>
            </a:pPr>
            <a:r>
              <a:t>• Validated against held-out Tanner Health rows. First attempt sampled randomly and was 88% duplicates of training data (Tanner is already one of the 18 source customers) — caught via novelty scoring 0.0 on rows that should've been unfamiliar; fixed by filtering to the ~11% with zero exact-text overlap. The loop catching its own contaminated test is itself the loop working.</a:t>
            </a:r>
          </a:p>
          <a:p>
            <a:pPr>
              <a:spcAft>
                <a:spcPts val="600"/>
              </a:spcAft>
              <a:defRPr sz="1050">
                <a:solidFill>
                  <a:srgbClr val="222222"/>
                </a:solidFill>
              </a:defRPr>
            </a:pPr>
            <a:r>
              <a:t>• Failures triage into 3 buckets: missing keyword → patch vocabulary; structural asymmetry → fix the rule (e.g. technique_extractor knew MYOCARDIAL/HEPATOBILIARY but region_focus_extractor didn't); out of scope → drop it (e.g. “reason” — only 5% of descriptions carry indication language).</a:t>
            </a:r>
          </a:p>
          <a:p>
            <a:pPr>
              <a:spcAft>
                <a:spcPts val="600"/>
              </a:spcAft>
              <a:defRPr sz="1050">
                <a:solidFill>
                  <a:srgbClr val="222222"/>
                </a:solidFill>
              </a:defRPr>
            </a:pPr>
            <a:r>
              <a:t>• Each new site's vocabulary folds back into the shared keyword sets, so coverage compounds over time without hand-labeled training data.</a:t>
            </a:r>
          </a:p>
          <a:p>
            <a:pPr>
              <a:spcAft>
                <a:spcPts val="600"/>
              </a:spcAft>
              <a:defRPr sz="1050">
                <a:solidFill>
                  <a:srgbClr val="222222"/>
                </a:solidFill>
              </a:defRPr>
            </a:pPr>
            <a:r>
              <a:t>• Same loop applies to the routing table itself: entries get corrected when empirical spec-rates disagree (e.g. contrast removed from MG/XA/NM; laterality removed from NM).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80" y="1417320"/>
            <a:ext cx="3703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B2E7A"/>
                </a:solidFill>
              </a:defRPr>
            </a:pPr>
            <a:r>
              <a:t>3 · Embeddings — planned for region/focus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80" y="1801368"/>
            <a:ext cx="3703320" cy="27940"/>
          </a:xfrm>
          <a:prstGeom prst="rect">
            <a:avLst/>
          </a:prstGeom>
          <a:solidFill>
            <a:srgbClr val="6B2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947672"/>
            <a:ext cx="3703320" cy="454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222222"/>
                </a:solidFill>
              </a:defRPr>
            </a:pPr>
            <a:r>
              <a:t>• Region/focus is the weakest generalizer of the 4 on genuinely held-out data (92.5% on CT, the only modality with enough held-out volume to be meaningful) because it requires hand-authoring every synonym for 9 regions × growing foci (PSMA, MYOCARDIAL, UPPER GI, whole-body-range PET scans, …).</a:t>
            </a:r>
          </a:p>
          <a:p>
            <a:pPr>
              <a:spcAft>
                <a:spcPts val="600"/>
              </a:spcAft>
              <a:defRPr sz="1050">
                <a:solidFill>
                  <a:srgbClr val="222222"/>
                </a:solidFill>
              </a:defRPr>
            </a:pPr>
            <a:r>
              <a:t>• Laterality, contrast, and technique are already ~100% on fresh data — rule-based is sufficient there; no embeddings planned for those.</a:t>
            </a:r>
          </a:p>
          <a:p>
            <a:pPr>
              <a:spcAft>
                <a:spcPts val="600"/>
              </a:spcAft>
              <a:defRPr sz="1050">
                <a:solidFill>
                  <a:srgbClr val="222222"/>
                </a:solidFill>
              </a:defRPr>
            </a:pPr>
            <a:r>
              <a:t>• Plan: keep the rule-based region/focus model as the deterministic, auditable baseline — a fallback, not a throwaway.</a:t>
            </a:r>
          </a:p>
          <a:p>
            <a:pPr>
              <a:spcAft>
                <a:spcPts val="600"/>
              </a:spcAft>
              <a:defRPr sz="1050">
                <a:solidFill>
                  <a:srgbClr val="222222"/>
                </a:solidFill>
              </a:defRPr>
            </a:pPr>
            <a:r>
              <a:t>• Add an embedding layer on top that maps novel phrasing to the same fixed 9-region/foci taxonomy by semantic similarity, instead of requiring an exact keyword match for every new term.</a:t>
            </a:r>
          </a:p>
          <a:p>
            <a:pPr>
              <a:spcAft>
                <a:spcPts val="600"/>
              </a:spcAft>
              <a:defRPr sz="1050">
                <a:solidFill>
                  <a:srgbClr val="222222"/>
                </a:solidFill>
              </a:defRPr>
            </a:pPr>
            <a:r>
              <a:t>• The manually-audited fresh-data samples being accumulated now (Tanner, and future sites) double as the validation/anchor set for that embedding layer once built.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